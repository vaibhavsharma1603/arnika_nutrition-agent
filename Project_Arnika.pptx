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metadata" ContentType="application/binary"/>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notesSlides/notesSlide13.xml" ContentType="application/vnd.openxmlformats-officedocument.presentationml.notesSlide+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3.xml" ContentType="application/vnd.openxmlformats-officedocument.presentationml.notesSlide+xml"/>
  <Default Extension="png" ContentType="image/png"/>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8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 xmlns:p14="http://schemas.microsoft.com/office/powerpoint/2010/main">
          <a:srgbClr val="FF0000"/>
        </p14:laserClr>
      </p:ext>
      <p:ext uri="{2FDB2607-1784-4EEB-B798-7EB5836EED8A}">
        <p14:showMediaCtrls xmlns="" xmlns:p14="http://schemas.microsoft.com/office/powerpoint/2010/main" val="1"/>
      </p:ext>
    </p:extLst>
  </p:showPr>
  <p:extLst>
    <p:ext uri="{E76CE94A-603C-4142-B9EB-6D1370010A27}">
      <p14:discardImageEditData xmlns="" xmlns:p14="http://schemas.microsoft.com/office/powerpoint/2010/main" val="0"/>
    </p:ext>
    <p:ext uri="{D31A062A-798A-4329-ABDD-BBA856620510}">
      <p14:defaultImageDpi xmlns="" xmlns:p14="http://schemas.microsoft.com/office/powerpoint/2010/main" val="220"/>
    </p:ext>
    <p:ext uri="{FD5EFAAD-0ECE-453E-9831-46B23BE46B34}">
      <p15:chartTrackingRefBased xmlns=""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591CF7-6E22-14BF-DB99-3894772A19DF}" v="65" dt="2026-04-21T05:09:31.452"/>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86"/>
  </p:normalViewPr>
  <p:slideViewPr>
    <p:cSldViewPr snapToGrid="0">
      <p:cViewPr varScale="1">
        <p:scale>
          <a:sx n="68" d="100"/>
          <a:sy n="68" d="100"/>
        </p:scale>
        <p:origin x="-798" y="-96"/>
      </p:cViewPr>
      <p:guideLst>
        <p:guide orient="horz" pos="2160"/>
        <p:guide pos="3840"/>
      </p:guideLst>
    </p:cSldViewPr>
  </p:slideViewPr>
  <p:notesTextViewPr>
    <p:cViewPr>
      <p:scale>
        <a:sx n="1" d="1"/>
        <a:sy n="1" d="1"/>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pPr marL="0" lvl="0" indent="0" algn="r" rtl="0">
                <a:spcBef>
                  <a:spcPts val="0"/>
                </a:spcBef>
                <a:spcAft>
                  <a:spcPts val="0"/>
                </a:spcAft>
                <a:buNone/>
              </a:pPr>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mailto:sharmavaibhav1603@gmail.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r>
              <a:rPr lang="en-US" b="1" dirty="0"/>
              <a:t/>
            </a:r>
            <a:br>
              <a:rPr lang="en-US" b="1" dirty="0"/>
            </a:br>
            <a:endParaRPr lang="en-IN" dirty="0"/>
          </a:p>
        </p:txBody>
      </p:sp>
      <p:sp>
        <p:nvSpPr>
          <p:cNvPr id="3" name="Text Placeholder 2">
            <a:extLst>
              <a:ext uri="{FF2B5EF4-FFF2-40B4-BE49-F238E27FC236}">
                <a16:creationId xmlns=""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 xmlns:p14="http://schemas.microsoft.com/office/powerpoint/2010/main" val="2897107072"/>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 xmlns:a16="http://schemas.microsoft.com/office/drawing/2014/main" val="20000"/>
                    </a:ext>
                  </a:extLst>
                </a:gridCol>
                <a:gridCol w="2443374">
                  <a:extLst>
                    <a:ext uri="{9D8B030D-6E8A-4147-A177-3AD203B41FA5}">
                      <a16:colId xmlns="" xmlns:a16="http://schemas.microsoft.com/office/drawing/2014/main" val="20002"/>
                    </a:ext>
                  </a:extLst>
                </a:gridCol>
                <a:gridCol w="2443374">
                  <a:extLst>
                    <a:ext uri="{9D8B030D-6E8A-4147-A177-3AD203B41FA5}">
                      <a16:colId xmlns="" xmlns:a16="http://schemas.microsoft.com/office/drawing/2014/main" val="20003"/>
                    </a:ext>
                  </a:extLst>
                </a:gridCol>
                <a:gridCol w="2443374">
                  <a:extLst>
                    <a:ext uri="{9D8B030D-6E8A-4147-A177-3AD203B41FA5}">
                      <a16:colId xmlns=""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 xmlns:a16="http://schemas.microsoft.com/office/drawing/2014/main" val="10000"/>
                  </a:ext>
                </a:extLst>
              </a:tr>
              <a:tr h="1193891">
                <a:tc>
                  <a:txBody>
                    <a:bodyPr/>
                    <a:lstStyle/>
                    <a:p>
                      <a:pPr marL="0" marR="0" lvl="0" indent="0" algn="l" rtl="0">
                        <a:spcBef>
                          <a:spcPts val="0"/>
                        </a:spcBef>
                        <a:spcAft>
                          <a:spcPts val="0"/>
                        </a:spcAft>
                        <a:buNone/>
                      </a:pPr>
                      <a:r>
                        <a:rPr lang="en-US" dirty="0" smtClean="0"/>
                        <a:t>Dr. </a:t>
                      </a:r>
                      <a:r>
                        <a:rPr lang="en-US" dirty="0" err="1" smtClean="0"/>
                        <a:t>Arnika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smtClean="0">
                          <a:hlinkClick r:id="rId3"/>
                        </a:rPr>
                        <a:t>jain.arnika2009@gmail.com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smtClean="0"/>
                        <a:t>9690064499</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 xmlns:a16="http://schemas.microsoft.com/office/drawing/2014/main" val="10001"/>
                  </a:ext>
                </a:extLst>
              </a:tr>
            </a:tbl>
          </a:graphicData>
        </a:graphic>
      </p:graphicFrame>
      <p:sp>
        <p:nvSpPr>
          <p:cNvPr id="4" name="TextBox 3">
            <a:extLst>
              <a:ext uri="{FF2B5EF4-FFF2-40B4-BE49-F238E27FC236}">
                <a16:creationId xmlns=""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smtClean="0">
                <a:highlight>
                  <a:srgbClr val="FFFF00"/>
                </a:highlight>
              </a:rPr>
              <a:t>Healthcare</a:t>
            </a:r>
            <a:endParaRPr lang="en-IN" sz="2400" b="1" dirty="0">
              <a:highlight>
                <a:srgbClr val="FFFF00"/>
              </a:highlight>
            </a:endParaRPr>
          </a:p>
        </p:txBody>
      </p:sp>
      <p:sp>
        <p:nvSpPr>
          <p:cNvPr id="7" name="TextBox 6">
            <a:extLst>
              <a:ext uri="{FF2B5EF4-FFF2-40B4-BE49-F238E27FC236}">
                <a16:creationId xmlns=""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smtClean="0">
                <a:highlight>
                  <a:srgbClr val="FFFF00"/>
                </a:highlight>
              </a:rPr>
              <a:t>Nutrition Agent</a:t>
            </a:r>
            <a:endParaRPr lang="en-IN" sz="2400" b="1" dirty="0">
              <a:highlight>
                <a:srgbClr val="FFFF00"/>
              </a:highlight>
            </a:endParaRPr>
          </a:p>
        </p:txBody>
      </p:sp>
      <p:pic>
        <p:nvPicPr>
          <p:cNvPr id="9" name="Picture 8" descr="WhatsApp Image 2026-04-29 at 11.32.06 AM.jpeg"/>
          <p:cNvPicPr>
            <a:picLocks noChangeAspect="1"/>
          </p:cNvPicPr>
          <p:nvPr/>
        </p:nvPicPr>
        <p:blipFill>
          <a:blip r:embed="rId4"/>
          <a:stretch>
            <a:fillRect/>
          </a:stretch>
        </p:blipFill>
        <p:spPr>
          <a:xfrm>
            <a:off x="4346917" y="3598399"/>
            <a:ext cx="860399" cy="100142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dirty="0"/>
              <a:t>Problem Statement : Nutrition Agent</a:t>
            </a:r>
            <a:r>
              <a:rPr lang="en-US" dirty="0"/>
              <a:t> </a:t>
            </a:r>
          </a:p>
          <a:p>
            <a:pPr fontAlgn="base"/>
            <a:endParaRPr lang="en-US" b="1" dirty="0"/>
          </a:p>
          <a:p>
            <a:pPr fontAlgn="base"/>
            <a:r>
              <a:rPr lang="en-US" b="1" dirty="0"/>
              <a:t>The Challenge</a:t>
            </a:r>
            <a:r>
              <a:rPr lang="en-US" dirty="0"/>
              <a:t> </a:t>
            </a:r>
          </a:p>
          <a:p>
            <a:pPr fontAlgn="base"/>
            <a:r>
              <a:rPr lang="en-US" dirty="0"/>
              <a:t>Good nutrition is the foundation of health, but individuals often struggle with </a:t>
            </a:r>
            <a:r>
              <a:rPr lang="en-US" b="1" dirty="0"/>
              <a:t>diet planning, portion control, and tracking nutritional intake</a:t>
            </a:r>
            <a:r>
              <a:rPr lang="en-US" dirty="0"/>
              <a:t>. Information about healthy diets, disease-specific nutrition, and food composition is scattered across unreliable sources. Without </a:t>
            </a:r>
            <a:r>
              <a:rPr lang="en-US" b="1" dirty="0"/>
              <a:t>personalized, real-time guidance</a:t>
            </a:r>
            <a:r>
              <a:rPr lang="en-US" dirty="0"/>
              <a:t>, many fail to maintain balanced diets or make informed food choices. </a:t>
            </a:r>
          </a:p>
          <a:p>
            <a:pPr fontAlgn="base"/>
            <a:endParaRPr lang="en-US" dirty="0"/>
          </a:p>
          <a:p>
            <a:pPr fontAlgn="base"/>
            <a:r>
              <a:rPr lang="en-US" b="1" dirty="0"/>
              <a:t>The Objective</a:t>
            </a:r>
            <a:r>
              <a:rPr lang="en-US" dirty="0"/>
              <a:t> </a:t>
            </a:r>
          </a:p>
          <a:p>
            <a:pPr fontAlgn="base"/>
            <a:r>
              <a:rPr lang="en-US" dirty="0"/>
              <a:t>Build an </a:t>
            </a:r>
            <a:r>
              <a:rPr lang="en-US" b="1" dirty="0"/>
              <a:t>AI-powered Nutrition Agent</a:t>
            </a:r>
            <a:r>
              <a:rPr lang="en-US" dirty="0"/>
              <a:t> that delivers </a:t>
            </a:r>
            <a:r>
              <a:rPr lang="en-US" b="1" dirty="0"/>
              <a:t>personalized dietary insights and guidance</a:t>
            </a:r>
            <a:r>
              <a:rPr lang="en-US" dirty="0"/>
              <a:t> for individuals, families, and health professionals. The solution should: </a:t>
            </a:r>
          </a:p>
          <a:p>
            <a:pPr marL="285750" indent="-285750" fontAlgn="base">
              <a:buFont typeface="Arial" panose="020B0604020202020204" pitchFamily="34" charset="0"/>
              <a:buChar char="•"/>
            </a:pPr>
            <a:r>
              <a:rPr lang="en-US" b="1" dirty="0"/>
              <a:t>Personalized Diet Plans</a:t>
            </a:r>
            <a:r>
              <a:rPr lang="en-US" dirty="0"/>
              <a:t> – Recommend meals based on age, health conditions, allergies, cultural preferences, and fitness goals. </a:t>
            </a:r>
          </a:p>
          <a:p>
            <a:pPr marL="285750" indent="-285750" fontAlgn="base">
              <a:buFont typeface="Arial" panose="020B0604020202020204" pitchFamily="34" charset="0"/>
              <a:buChar char="•"/>
            </a:pPr>
            <a:r>
              <a:rPr lang="en-US" b="1" dirty="0"/>
              <a:t>Food Data RAG Retrieval</a:t>
            </a:r>
            <a:r>
              <a:rPr lang="en-US" dirty="0"/>
              <a:t> – Fetch and summarize nutritional values (calories, macros, vitamins) from reliable sources. </a:t>
            </a:r>
          </a:p>
          <a:p>
            <a:pPr marL="285750" indent="-285750" fontAlgn="base">
              <a:buFont typeface="Arial" panose="020B0604020202020204" pitchFamily="34" charset="0"/>
              <a:buChar char="•"/>
            </a:pPr>
            <a:r>
              <a:rPr lang="en-US" b="1" dirty="0"/>
              <a:t>Diet Tracking &amp; Feedback</a:t>
            </a:r>
            <a:r>
              <a:rPr lang="en-US" dirty="0"/>
              <a:t> – Allow users to log meals via text, images, or voice, and provide instant nutritional analysis. </a:t>
            </a:r>
          </a:p>
          <a:p>
            <a:pPr marL="285750" indent="-285750" fontAlgn="base">
              <a:buFont typeface="Arial" panose="020B0604020202020204" pitchFamily="34" charset="0"/>
              <a:buChar char="•"/>
            </a:pPr>
            <a:r>
              <a:rPr lang="en-US" b="1" dirty="0"/>
              <a:t>Preventive Health Focus</a:t>
            </a:r>
            <a:r>
              <a:rPr lang="en-US" dirty="0"/>
              <a:t> – Suggest diets for chronic disease management (e.g., diabetes-friendly or heart-healthy plans). </a:t>
            </a:r>
          </a:p>
          <a:p>
            <a:pPr marL="285750" indent="-285750" fontAlgn="base">
              <a:buFont typeface="Arial" panose="020B0604020202020204" pitchFamily="34" charset="0"/>
              <a:buChar char="•"/>
            </a:pPr>
            <a:r>
              <a:rPr lang="en-US" b="1" dirty="0"/>
              <a:t>Multi-Agent System</a:t>
            </a:r>
            <a:r>
              <a:rPr lang="en-US" dirty="0"/>
              <a:t> – </a:t>
            </a:r>
          </a:p>
          <a:p>
            <a:pPr marL="285750" indent="-285750" fontAlgn="base">
              <a:buFont typeface="Arial" panose="020B0604020202020204" pitchFamily="34" charset="0"/>
              <a:buChar char="•"/>
            </a:pPr>
            <a:r>
              <a:rPr lang="en-US" b="1" dirty="0"/>
              <a:t>Nutrition Knowledge Agent</a:t>
            </a:r>
            <a:r>
              <a:rPr lang="en-US" dirty="0"/>
              <a:t> (fetches nutritional data) </a:t>
            </a:r>
          </a:p>
          <a:p>
            <a:pPr marL="285750" indent="-285750" fontAlgn="base">
              <a:buFont typeface="Arial" panose="020B0604020202020204" pitchFamily="34" charset="0"/>
              <a:buChar char="•"/>
            </a:pPr>
            <a:r>
              <a:rPr lang="en-US" b="1" dirty="0"/>
              <a:t>Diet Recommendation Agent</a:t>
            </a:r>
            <a:r>
              <a:rPr lang="en-US" dirty="0"/>
              <a:t> (personalized meal plans) </a:t>
            </a:r>
          </a:p>
          <a:p>
            <a:pPr marL="285750" indent="-285750" fontAlgn="base">
              <a:buFont typeface="Arial" panose="020B0604020202020204" pitchFamily="34" charset="0"/>
              <a:buChar char="•"/>
            </a:pPr>
            <a:r>
              <a:rPr lang="en-US" b="1" dirty="0"/>
              <a:t>Health Advisory Agent</a:t>
            </a:r>
            <a:r>
              <a:rPr lang="en-US" dirty="0"/>
              <a:t> (preventive health suggestions) </a:t>
            </a:r>
          </a:p>
          <a:p>
            <a:pPr marL="285750" indent="-285750" fontAlgn="base">
              <a:buFont typeface="Arial" panose="020B0604020202020204" pitchFamily="34" charset="0"/>
              <a:buChar char="•"/>
            </a:pPr>
            <a:r>
              <a:rPr lang="en-US" b="1" dirty="0"/>
              <a:t>Food Log &amp; Feedback Agent</a:t>
            </a:r>
            <a:r>
              <a:rPr lang="en-US" dirty="0"/>
              <a:t> (meal tracking + analysis) </a:t>
            </a:r>
          </a:p>
          <a:p>
            <a:pPr marL="285750" indent="-285750" fontAlgn="base">
              <a:buFont typeface="Arial" panose="020B0604020202020204" pitchFamily="34" charset="0"/>
              <a:buChar char="•"/>
            </a:pPr>
            <a:r>
              <a:rPr lang="en-US" b="1" dirty="0"/>
              <a:t>Visualization Dashboard</a:t>
            </a:r>
            <a:r>
              <a:rPr lang="en-US" dirty="0"/>
              <a:t> – Show daily/weekly nutrient intake, deficiencies, and progress toward health goals. </a:t>
            </a:r>
          </a:p>
          <a:p>
            <a:pPr fontAlgn="base"/>
            <a:endParaRPr lang="en-US" dirty="0"/>
          </a:p>
          <a:p>
            <a:endParaRPr lang="en-IN" dirty="0"/>
          </a:p>
        </p:txBody>
      </p:sp>
      <p:sp>
        <p:nvSpPr>
          <p:cNvPr id="3" name="TextBox 2">
            <a:extLst>
              <a:ext uri="{FF2B5EF4-FFF2-40B4-BE49-F238E27FC236}">
                <a16:creationId xmlns=""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07CFCB91-EF22-EB8C-5B0D-4D46021F0245}"/>
              </a:ext>
            </a:extLst>
          </p:cNvPr>
          <p:cNvSpPr txBox="1"/>
          <p:nvPr/>
        </p:nvSpPr>
        <p:spPr>
          <a:xfrm>
            <a:off x="685800" y="1165753"/>
            <a:ext cx="10607040" cy="2462213"/>
          </a:xfrm>
          <a:prstGeom prst="rect">
            <a:avLst/>
          </a:prstGeom>
          <a:noFill/>
        </p:spPr>
        <p:txBody>
          <a:bodyPr wrap="square" rtlCol="0">
            <a:spAutoFit/>
          </a:bodyPr>
          <a:lstStyle/>
          <a:p>
            <a:pPr fontAlgn="base"/>
            <a:endParaRPr lang="en-US" b="1" dirty="0"/>
          </a:p>
          <a:p>
            <a:pPr fontAlgn="base"/>
            <a:r>
              <a:rPr lang="en-IN" b="1" dirty="0"/>
              <a:t>Tech Stack (Mandatory)</a:t>
            </a:r>
            <a:r>
              <a:rPr lang="en-IN" dirty="0"/>
              <a:t> </a:t>
            </a:r>
          </a:p>
          <a:p>
            <a:pPr fontAlgn="base"/>
            <a:r>
              <a:rPr lang="en-IN" dirty="0"/>
              <a:t>Use </a:t>
            </a:r>
            <a:r>
              <a:rPr lang="en-IN" b="1" dirty="0"/>
              <a:t>any one</a:t>
            </a:r>
            <a:r>
              <a:rPr lang="en-IN" dirty="0"/>
              <a:t> of the following approaches: </a:t>
            </a:r>
          </a:p>
          <a:p>
            <a:pPr marL="285750" indent="-285750" fontAlgn="base">
              <a:buFont typeface="Arial" panose="020B0604020202020204" pitchFamily="34" charset="0"/>
              <a:buChar char="•"/>
            </a:pPr>
            <a:r>
              <a:rPr lang="en-IN" dirty="0" err="1"/>
              <a:t>LangFlow</a:t>
            </a:r>
            <a:r>
              <a:rPr lang="en-IN" dirty="0"/>
              <a:t> + IBM watsonx.ai + Granite Models </a:t>
            </a:r>
          </a:p>
          <a:p>
            <a:pPr marL="285750" indent="-285750" fontAlgn="base">
              <a:buFont typeface="Arial" panose="020B0604020202020204" pitchFamily="34" charset="0"/>
              <a:buChar char="•"/>
            </a:pPr>
            <a:endParaRPr lang="en-IN" dirty="0"/>
          </a:p>
          <a:p>
            <a:pPr fontAlgn="base"/>
            <a:r>
              <a:rPr lang="en-IN" dirty="0"/>
              <a:t>I used </a:t>
            </a:r>
            <a:r>
              <a:rPr lang="en-IN" dirty="0" err="1">
                <a:highlight>
                  <a:srgbClr val="FFFF00"/>
                </a:highlight>
              </a:rPr>
              <a:t>LangFlow</a:t>
            </a:r>
            <a:r>
              <a:rPr lang="en-IN" dirty="0">
                <a:highlight>
                  <a:srgbClr val="FFFF00"/>
                </a:highlight>
              </a:rPr>
              <a:t> + IBM watsonx.ai + Granite Models </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dirty="0"/>
          </a:p>
          <a:p>
            <a:r>
              <a:rPr lang="en-US" b="1" dirty="0"/>
              <a:t>Proposed Solution: AI-Powered Nutrition Agent</a:t>
            </a:r>
          </a:p>
          <a:p>
            <a:r>
              <a:rPr lang="en-US" dirty="0"/>
              <a:t>The proposed solution is a </a:t>
            </a:r>
            <a:r>
              <a:rPr lang="en-US" b="1" dirty="0"/>
              <a:t>multi-agent AI-powered Nutrition Agent</a:t>
            </a:r>
            <a:r>
              <a:rPr lang="en-US" dirty="0"/>
              <a:t> built using </a:t>
            </a:r>
            <a:r>
              <a:rPr lang="en-US" b="1" dirty="0" err="1"/>
              <a:t>LangFlow</a:t>
            </a:r>
            <a:r>
              <a:rPr lang="en-US" b="1" dirty="0"/>
              <a:t>, IBM watsonx.ai, and Granite Models</a:t>
            </a:r>
            <a:r>
              <a:rPr lang="en-US" dirty="0"/>
              <a:t> to provide personalized, real-time dietary guidance. The system addresses challenges in diet planning, nutrition tracking, and preventive healthcare through an intelligent, modular architecture.</a:t>
            </a:r>
          </a:p>
          <a:p>
            <a:r>
              <a:rPr lang="en-US" dirty="0"/>
              <a:t>At its core, the solution uses a </a:t>
            </a:r>
            <a:r>
              <a:rPr lang="en-US" b="1" dirty="0"/>
              <a:t>Retrieval-Augmented Generation (RAG)</a:t>
            </a:r>
            <a:r>
              <a:rPr lang="en-US" dirty="0"/>
              <a:t> pipeline to fetch accurate nutritional data from trusted sources such as USDA and WHO datasets. This data is embedded and stored in a vector database, enabling the system to retrieve and summarize food nutrition details (calories, macros, vitamins) using Granite models.</a:t>
            </a:r>
          </a:p>
          <a:p>
            <a:r>
              <a:rPr lang="en-US" dirty="0"/>
              <a:t>The system consists of four key agents:</a:t>
            </a:r>
          </a:p>
          <a:p>
            <a:r>
              <a:rPr lang="en-US" b="1" dirty="0"/>
              <a:t>Nutrition Knowledge Agent</a:t>
            </a:r>
            <a:r>
              <a:rPr lang="en-US" dirty="0"/>
              <a:t> retrieves and summarizes nutritional information using RAG. </a:t>
            </a:r>
          </a:p>
          <a:p>
            <a:r>
              <a:rPr lang="en-US" b="1" dirty="0"/>
              <a:t>Diet Recommendation Agent</a:t>
            </a:r>
            <a:r>
              <a:rPr lang="en-US" dirty="0"/>
              <a:t> generates personalized meal plans based on user inputs such as age, health conditions, dietary preferences, and fitness goals. </a:t>
            </a:r>
          </a:p>
          <a:p>
            <a:r>
              <a:rPr lang="en-US" b="1" dirty="0"/>
              <a:t>Health Advisory Agent</a:t>
            </a:r>
            <a:r>
              <a:rPr lang="en-US" dirty="0"/>
              <a:t> provides preventive health suggestions, including disease-specific diets (e.g., diabetes-friendly or heart-healthy plans). </a:t>
            </a:r>
          </a:p>
          <a:p>
            <a:r>
              <a:rPr lang="en-US" b="1" dirty="0"/>
              <a:t>Food Log &amp; Feedback Agent</a:t>
            </a:r>
            <a:r>
              <a:rPr lang="en-US" dirty="0"/>
              <a:t> allows users to log meals via text, voice, or images and delivers instant nutritional analysis with actionable feedback. </a:t>
            </a:r>
          </a:p>
          <a:p>
            <a:r>
              <a:rPr lang="en-US" dirty="0"/>
              <a:t>The solution includes a </a:t>
            </a:r>
            <a:r>
              <a:rPr lang="en-US" b="1" dirty="0"/>
              <a:t>user-friendly dashboard</a:t>
            </a:r>
            <a:r>
              <a:rPr lang="en-US" dirty="0"/>
              <a:t> (built with </a:t>
            </a:r>
            <a:r>
              <a:rPr lang="en-US" dirty="0" err="1"/>
              <a:t>Streamlit</a:t>
            </a:r>
            <a:r>
              <a:rPr lang="en-US" dirty="0"/>
              <a:t> or React) that visualizes daily and weekly nutrient intake, highlights deficiencies, and tracks progress toward health goals.</a:t>
            </a:r>
          </a:p>
          <a:p>
            <a:r>
              <a:rPr lang="en-US" dirty="0" err="1"/>
              <a:t>LangFlow</a:t>
            </a:r>
            <a:r>
              <a:rPr lang="en-US" dirty="0"/>
              <a:t> is used to orchestrate agent workflows, while watsonx.ai ensures scalable model deployment, embeddings, and AI governance. Granite models power reasoning, summarization, and personalization.</a:t>
            </a:r>
          </a:p>
          <a:p>
            <a:r>
              <a:rPr lang="en-US" dirty="0"/>
              <a:t>Overall, this solution delivers an </a:t>
            </a:r>
            <a:r>
              <a:rPr lang="en-US" b="1" dirty="0"/>
              <a:t>end-to-end intelligent nutrition assistant</a:t>
            </a:r>
            <a:r>
              <a:rPr lang="en-US" dirty="0"/>
              <a:t> that promotes healthier lifestyles through personalized insights, real-time feedback, and preventive healthcare recommendations.</a:t>
            </a:r>
          </a:p>
          <a:p>
            <a:pPr fontAlgn="base"/>
            <a:endParaRPr lang="en-US" dirty="0"/>
          </a:p>
          <a:p>
            <a:endParaRPr lang="en-IN" dirty="0"/>
          </a:p>
        </p:txBody>
      </p:sp>
      <p:sp>
        <p:nvSpPr>
          <p:cNvPr id="3" name="TextBox 2">
            <a:extLst>
              <a:ext uri="{FF2B5EF4-FFF2-40B4-BE49-F238E27FC236}">
                <a16:creationId xmlns=""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 xmlns:a16="http://schemas.microsoft.com/office/drawing/2014/main" id="{9BB86949-7ED1-C43B-B1E3-5122BB67A596}"/>
              </a:ext>
            </a:extLst>
          </p:cNvPr>
          <p:cNvSpPr txBox="1"/>
          <p:nvPr/>
        </p:nvSpPr>
        <p:spPr>
          <a:xfrm>
            <a:off x="474822" y="863187"/>
            <a:ext cx="8823960" cy="3970318"/>
          </a:xfrm>
          <a:prstGeom prst="rect">
            <a:avLst/>
          </a:prstGeom>
          <a:noFill/>
        </p:spPr>
        <p:txBody>
          <a:bodyPr wrap="square" rtlCol="0">
            <a:spAutoFit/>
          </a:bodyPr>
          <a:lstStyle/>
          <a:p>
            <a:endParaRPr lang="en-US" dirty="0"/>
          </a:p>
          <a:p>
            <a:r>
              <a:rPr lang="en-US" b="1" dirty="0"/>
              <a:t>1) Chat Input </a:t>
            </a:r>
            <a:r>
              <a:rPr lang="en-US" dirty="0"/>
              <a:t>– Interface where users enter their queries, preferences, or meal details (text/voice/image).</a:t>
            </a:r>
          </a:p>
          <a:p>
            <a:endParaRPr lang="en-US" dirty="0"/>
          </a:p>
          <a:p>
            <a:r>
              <a:rPr lang="en-US" b="1" dirty="0"/>
              <a:t>2) IBM </a:t>
            </a:r>
            <a:r>
              <a:rPr lang="en-US" b="1" dirty="0" err="1"/>
              <a:t>watsonx</a:t>
            </a:r>
            <a:r>
              <a:rPr lang="en-US" b="1" dirty="0"/>
              <a:t> AI Agent </a:t>
            </a:r>
            <a:r>
              <a:rPr lang="en-US" dirty="0"/>
              <a:t>- Processes user input using Granite models to generate personalized nutrition insights and recommendations. </a:t>
            </a:r>
          </a:p>
          <a:p>
            <a:endParaRPr lang="en-US" dirty="0"/>
          </a:p>
          <a:p>
            <a:r>
              <a:rPr lang="en-US" b="1" dirty="0"/>
              <a:t>3) Name of IBM Granite model - </a:t>
            </a:r>
            <a:r>
              <a:rPr lang="en-US" dirty="0"/>
              <a:t>Granite-4.0-8B-Instruct → Fast, efficient for real-time diet recommendations</a:t>
            </a:r>
          </a:p>
          <a:p>
            <a:endParaRPr lang="en-US" dirty="0"/>
          </a:p>
          <a:p>
            <a:r>
              <a:rPr lang="en-US" b="1" dirty="0"/>
              <a:t>4) Chat output -</a:t>
            </a:r>
            <a:r>
              <a:rPr lang="en-US" dirty="0"/>
              <a:t>Displays AI-generated responses such as diet plans, nutritional analysis, and health suggestions. </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4" name="Picture 3" descr="WhatsApp Image 2026-04-29 at 11.14.21 AM.jpeg"/>
          <p:cNvPicPr>
            <a:picLocks noChangeAspect="1"/>
          </p:cNvPicPr>
          <p:nvPr/>
        </p:nvPicPr>
        <p:blipFill>
          <a:blip r:embed="rId3"/>
          <a:stretch>
            <a:fillRect/>
          </a:stretch>
        </p:blipFill>
        <p:spPr>
          <a:xfrm>
            <a:off x="801858" y="1308294"/>
            <a:ext cx="9594679" cy="5073455"/>
          </a:xfrm>
          <a:prstGeom prst="rect">
            <a:avLst/>
          </a:prstGeom>
        </p:spPr>
      </p:pic>
    </p:spTree>
    <p:extLst>
      <p:ext uri="{BB962C8B-B14F-4D97-AF65-F5344CB8AC3E}">
        <p14:creationId xmlns=""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pic>
        <p:nvPicPr>
          <p:cNvPr id="178" name="Google Shape;178;p7"/>
          <p:cNvPicPr preferRelativeResize="0"/>
          <p:nvPr/>
        </p:nvPicPr>
        <p:blipFill rotWithShape="1">
          <a:blip r:embed="rId3">
            <a:alphaModFix/>
          </a:blip>
          <a:srcRect/>
          <a:stretch/>
        </p:blipFill>
        <p:spPr>
          <a:xfrm>
            <a:off x="699152" y="1071448"/>
            <a:ext cx="10429095" cy="5612816"/>
          </a:xfrm>
          <a:prstGeom prst="rect">
            <a:avLst/>
          </a:prstGeom>
          <a:noFill/>
          <a:ln>
            <a:noFill/>
          </a:ln>
        </p:spPr>
      </p:pic>
      <p:sp>
        <p:nvSpPr>
          <p:cNvPr id="2" name="Google Shape;135;p5">
            <a:extLst>
              <a:ext uri="{FF2B5EF4-FFF2-40B4-BE49-F238E27FC236}">
                <a16:creationId xmlns=""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a:t>
            </a:r>
            <a:r>
              <a:rPr lang="en-US" sz="3200" b="1" dirty="0" smtClean="0"/>
              <a:t>solution </a:t>
            </a:r>
            <a:endParaRPr lang="en-IN" sz="3200" b="1" dirty="0"/>
          </a:p>
        </p:txBody>
      </p:sp>
      <p:sp>
        <p:nvSpPr>
          <p:cNvPr id="3" name="TextBox 2">
            <a:extLst>
              <a:ext uri="{FF2B5EF4-FFF2-40B4-BE49-F238E27FC236}">
                <a16:creationId xmlns=""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rPr lang="en-US" b="1" dirty="0"/>
              <a:t>Role of Agentic AI in Nutrition Agent</a:t>
            </a:r>
          </a:p>
          <a:p>
            <a:r>
              <a:rPr lang="en-US" b="1" dirty="0"/>
              <a:t>Agentic AI</a:t>
            </a:r>
            <a:r>
              <a:rPr lang="en-US" dirty="0"/>
              <a:t> enables the Nutrition Agent to function as an intelligent, autonomous system rather than a simple chatbot. Using </a:t>
            </a:r>
            <a:r>
              <a:rPr lang="en-US" b="1" dirty="0"/>
              <a:t>IBM watsonx.ai</a:t>
            </a:r>
            <a:r>
              <a:rPr lang="en-US" dirty="0"/>
              <a:t> and </a:t>
            </a:r>
            <a:r>
              <a:rPr lang="en-US" b="1" dirty="0"/>
              <a:t>IBM Granite models</a:t>
            </a:r>
            <a:r>
              <a:rPr lang="en-US" dirty="0"/>
              <a:t>, it coordinates multiple specialized agents to deliver personalized nutrition guidance.</a:t>
            </a:r>
          </a:p>
          <a:p>
            <a:r>
              <a:rPr lang="en-US" dirty="0"/>
              <a:t>Each agent performs a specific role—such as retrieving nutritional data, generating diet plans, providing health advice, and analyzing food logs—while working collaboratively. This </a:t>
            </a:r>
            <a:r>
              <a:rPr lang="en-US" b="1" dirty="0"/>
              <a:t>multi-agent approach</a:t>
            </a:r>
            <a:r>
              <a:rPr lang="en-US" dirty="0"/>
              <a:t> ensures efficient task execution and accurate results.</a:t>
            </a:r>
          </a:p>
          <a:p>
            <a:r>
              <a:rPr lang="en-US" dirty="0"/>
              <a:t>Agentic AI also brings </a:t>
            </a:r>
            <a:r>
              <a:rPr lang="en-US" b="1" dirty="0"/>
              <a:t>context awareness</a:t>
            </a:r>
            <a:r>
              <a:rPr lang="en-US" dirty="0"/>
              <a:t>, understanding user details like age, health conditions, and fitness goals to generate tailored recommendations. It supports </a:t>
            </a:r>
            <a:r>
              <a:rPr lang="en-US" b="1" dirty="0"/>
              <a:t>real-time adaptation</a:t>
            </a:r>
            <a:r>
              <a:rPr lang="en-US" dirty="0"/>
              <a:t>, continuously updating suggestions based on user inputs like daily meals.</a:t>
            </a:r>
          </a:p>
          <a:p>
            <a:r>
              <a:rPr lang="en-US" dirty="0"/>
              <a:t>Additionally, agents communicate with each other, enabling better decision-making and improved outcomes.</a:t>
            </a:r>
          </a:p>
          <a:p>
            <a:r>
              <a:rPr lang="en-US" dirty="0"/>
              <a:t>Overall, Agentic AI makes the system proactive, personalized, and goal-driven, acting like a </a:t>
            </a:r>
            <a:r>
              <a:rPr lang="en-US" b="1" dirty="0"/>
              <a:t>smart digital nutritionist</a:t>
            </a:r>
            <a:r>
              <a:rPr lang="en-US" dirty="0"/>
              <a:t> that helps users maintain a healthy lifestyle.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a:t>
            </a:r>
            <a:r>
              <a:rPr lang="en-US" sz="2400" b="1" dirty="0" smtClean="0"/>
              <a:t>Used&lt;unchanged&gt;</a:t>
            </a:r>
            <a:endParaRPr lang="en-IN" sz="2400" b="1" dirty="0"/>
          </a:p>
        </p:txBody>
      </p:sp>
      <p:sp>
        <p:nvSpPr>
          <p:cNvPr id="3" name="TextBox 2">
            <a:extLst>
              <a:ext uri="{FF2B5EF4-FFF2-40B4-BE49-F238E27FC236}">
                <a16:creationId xmlns="" xmlns:a16="http://schemas.microsoft.com/office/drawing/2014/main" id="{4A7608B5-9906-EFCF-959A-E89FC2E3EE19}"/>
              </a:ext>
            </a:extLst>
          </p:cNvPr>
          <p:cNvSpPr txBox="1"/>
          <p:nvPr/>
        </p:nvSpPr>
        <p:spPr>
          <a:xfrm>
            <a:off x="777240" y="1207008"/>
            <a:ext cx="10515600" cy="4955203"/>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a:t>
            </a:r>
            <a:r>
              <a:rPr lang="en-US" sz="1800" dirty="0" smtClean="0"/>
              <a:t>ibm-granite-4h-small </a:t>
            </a:r>
            <a:r>
              <a:rPr lang="en-US" sz="1800" dirty="0"/>
              <a:t>–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US" sz="1800" dirty="0"/>
              <a:t>RAG to </a:t>
            </a:r>
            <a:r>
              <a:rPr lang="en-US" sz="1800" b="1" dirty="0"/>
              <a:t>fetch real data first, then generate intelligent answers</a:t>
            </a:r>
            <a:r>
              <a:rPr lang="en-US" sz="1800" dirty="0"/>
              <a:t>, making the Nutrition Agent more trustworthy and effective</a:t>
            </a:r>
            <a:r>
              <a:rPr lang="en-US" sz="1800" dirty="0" smtClean="0"/>
              <a:t>. </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a:t>
            </a:r>
            <a:r>
              <a:rPr lang="en-US" sz="1800" dirty="0" smtClean="0"/>
              <a:t>governance</a:t>
            </a:r>
            <a:endParaRPr lang="en-US" sz="1800" dirty="0">
              <a:solidFill>
                <a:srgbClr val="FF0000"/>
              </a:solidFill>
            </a:endParaRP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a:t>
            </a:r>
            <a:r>
              <a:rPr lang="en-US" sz="2400" b="1" dirty="0" smtClean="0"/>
              <a:t>Uniqueness</a:t>
            </a:r>
            <a:endParaRPr lang="en-IN" sz="2400" b="1" dirty="0"/>
          </a:p>
        </p:txBody>
      </p:sp>
      <p:sp>
        <p:nvSpPr>
          <p:cNvPr id="3" name="TextBox 2">
            <a:extLst>
              <a:ext uri="{FF2B5EF4-FFF2-40B4-BE49-F238E27FC236}">
                <a16:creationId xmlns=""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dirty="0"/>
              <a:t>The proposed Nutrition Agent stands out by combining </a:t>
            </a:r>
            <a:r>
              <a:rPr lang="en-IN" sz="1800" b="1" dirty="0"/>
              <a:t>Agentic AI, RAG, and personalization</a:t>
            </a:r>
            <a:r>
              <a:rPr lang="en-IN" sz="1800" dirty="0"/>
              <a:t> into a single intelligent system.</a:t>
            </a:r>
          </a:p>
          <a:p>
            <a:endParaRPr lang="en-IN" sz="1800" dirty="0"/>
          </a:p>
          <a:p>
            <a:r>
              <a:rPr lang="en-IN" sz="1800" b="1" dirty="0"/>
              <a:t>Multi-Agent Intelligence</a:t>
            </a:r>
            <a:r>
              <a:rPr lang="en-IN" sz="1800" dirty="0"/>
              <a:t> – Instead of a single chatbot, multiple specialized agents collaborate to deliver accurate and context-aware nutrition guidance. </a:t>
            </a:r>
          </a:p>
          <a:p>
            <a:r>
              <a:rPr lang="en-IN" sz="1800" b="1" dirty="0"/>
              <a:t>RAG-Based Accuracy</a:t>
            </a:r>
            <a:r>
              <a:rPr lang="en-IN" sz="1800" dirty="0"/>
              <a:t> – Integrates real-time data retrieval with AI generation, reducing misinformation and ensuring trustworthy recommendations. </a:t>
            </a:r>
          </a:p>
          <a:p>
            <a:r>
              <a:rPr lang="en-IN" sz="1800" b="1" dirty="0"/>
              <a:t>Hyper-Personalization</a:t>
            </a:r>
            <a:r>
              <a:rPr lang="en-IN" sz="1800" dirty="0"/>
              <a:t> – Tailors diet plans based on health conditions, cultural preferences, and fitness goals. </a:t>
            </a:r>
          </a:p>
          <a:p>
            <a:r>
              <a:rPr lang="en-IN" sz="1800" b="1" dirty="0"/>
              <a:t>Real-Time Feedback Loop</a:t>
            </a:r>
            <a:r>
              <a:rPr lang="en-IN" sz="1800" dirty="0"/>
              <a:t> – Continuously adapts recommendations based on daily food logs and user </a:t>
            </a:r>
            <a:r>
              <a:rPr lang="en-IN" sz="1800" dirty="0" err="1"/>
              <a:t>behavior</a:t>
            </a:r>
            <a:r>
              <a:rPr lang="en-IN" sz="1800" dirty="0"/>
              <a:t>. </a:t>
            </a:r>
          </a:p>
          <a:p>
            <a:r>
              <a:rPr lang="en-IN" sz="1800" b="1" dirty="0"/>
              <a:t>Multi-Modal Input</a:t>
            </a:r>
            <a:r>
              <a:rPr lang="en-IN" sz="1800" dirty="0"/>
              <a:t> – Supports text, voice, and image-based meal tracking for better usability. </a:t>
            </a:r>
          </a:p>
          <a:p>
            <a:r>
              <a:rPr lang="en-IN" sz="1800" b="1" dirty="0"/>
              <a:t>Preventive Healthcare Focus</a:t>
            </a:r>
            <a:r>
              <a:rPr lang="en-IN" sz="1800" dirty="0"/>
              <a:t> – Goes beyond diet planning to provide disease-specific nutrition advice. </a:t>
            </a:r>
          </a:p>
          <a:p>
            <a:r>
              <a:rPr lang="en-IN" sz="1800" b="1" dirty="0"/>
              <a:t>Scalable &amp; Enterprise-Ready</a:t>
            </a:r>
            <a:r>
              <a:rPr lang="en-IN" sz="1800" dirty="0"/>
              <a:t> – Built on </a:t>
            </a:r>
            <a:r>
              <a:rPr lang="en-IN" sz="1800" b="1" dirty="0"/>
              <a:t>IBM watsonx.ai</a:t>
            </a:r>
            <a:r>
              <a:rPr lang="en-IN" sz="1800" dirty="0"/>
              <a:t> with </a:t>
            </a:r>
            <a:r>
              <a:rPr lang="en-IN" sz="1800" b="1" dirty="0"/>
              <a:t>IBM Granite models</a:t>
            </a:r>
            <a:r>
              <a:rPr lang="en-IN" sz="1800" dirty="0"/>
              <a:t>, ensuring reliability and governance. </a:t>
            </a:r>
          </a:p>
          <a:p>
            <a:endParaRPr lang="en-IN" sz="1800" dirty="0"/>
          </a:p>
          <a:p>
            <a:r>
              <a:rPr lang="en-IN" sz="1800" dirty="0"/>
              <a:t>This makes the solution a </a:t>
            </a:r>
            <a:r>
              <a:rPr lang="en-IN" sz="1800" b="1" dirty="0"/>
              <a:t>smart, adaptive, and proactive digital nutritionist</a:t>
            </a:r>
            <a:r>
              <a:rPr lang="en-IN" sz="1800" dirty="0"/>
              <a:t>, not just a static diet recommendation tool.</a:t>
            </a:r>
            <a:endParaRPr lang="en-US" dirty="0"/>
          </a:p>
          <a:p>
            <a:endParaRPr lang="en-IN" dirty="0"/>
          </a:p>
        </p:txBody>
      </p:sp>
    </p:spTree>
    <p:extLst>
      <p:ext uri="{BB962C8B-B14F-4D97-AF65-F5344CB8AC3E}">
        <p14:creationId xmlns=""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a:t>
            </a:r>
            <a:r>
              <a:rPr lang="en-US" sz="2400" b="1" dirty="0" smtClean="0">
                <a:sym typeface="Times New Roman"/>
              </a:rPr>
              <a:t>Link&lt;Change&gt;</a:t>
            </a:r>
            <a:endParaRPr sz="2400" b="1" dirty="0">
              <a:sym typeface="Times New Roman"/>
            </a:endParaRPr>
          </a:p>
        </p:txBody>
      </p:sp>
      <p:sp>
        <p:nvSpPr>
          <p:cNvPr id="279" name="Google Shape;279;p18">
            <a:extLst>
              <a:ext uri="{FF2B5EF4-FFF2-40B4-BE49-F238E27FC236}">
                <a16:creationId xmlns=""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r>
              <a:rPr lang="en-US" sz="1850" dirty="0" smtClean="0">
                <a:solidFill>
                  <a:srgbClr val="2B3541"/>
                </a:solidFill>
                <a:latin typeface="Times New Roman"/>
                <a:ea typeface="Times New Roman"/>
                <a:cs typeface="Times New Roman"/>
                <a:sym typeface="Times New Roman"/>
              </a:rPr>
              <a:t>– </a:t>
            </a:r>
            <a:r>
              <a:rPr lang="en-US" sz="1850" dirty="0" smtClean="0">
                <a:solidFill>
                  <a:srgbClr val="2B3541"/>
                </a:solidFill>
                <a:latin typeface="Times New Roman"/>
                <a:ea typeface="Times New Roman"/>
                <a:cs typeface="Times New Roman"/>
                <a:sym typeface="Times New Roman"/>
              </a:rPr>
              <a:t>https://github.com/vaibhavsharma1603/Arnika_Nutrition-Agent.git</a:t>
            </a: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dirty="0" smtClean="0">
                <a:solidFill>
                  <a:srgbClr val="2B3541"/>
                </a:solidFill>
                <a:latin typeface="Times New Roman"/>
                <a:ea typeface="Times New Roman"/>
                <a:cs typeface="Times New Roman"/>
                <a:sym typeface="Times New Roman"/>
              </a:rPr>
              <a:t> </a:t>
            </a:r>
            <a:endParaRPr lang="en-US" sz="1850"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a:t>
            </a:r>
            <a:r>
              <a:rPr lang="en-US" sz="2400" b="1" dirty="0" smtClean="0">
                <a:sym typeface="Times New Roman"/>
              </a:rPr>
              <a:t>Scope&lt;change&gt; </a:t>
            </a:r>
            <a:endParaRPr sz="2400" b="1" dirty="0">
              <a:sym typeface="Times New Roman"/>
            </a:endParaRPr>
          </a:p>
        </p:txBody>
      </p:sp>
      <p:sp>
        <p:nvSpPr>
          <p:cNvPr id="279" name="Google Shape;279;p18">
            <a:extLst>
              <a:ext uri="{FF2B5EF4-FFF2-40B4-BE49-F238E27FC236}">
                <a16:creationId xmlns=""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dirty="0">
                <a:solidFill>
                  <a:srgbClr val="2B3541"/>
                </a:solidFill>
                <a:latin typeface="Times New Roman"/>
                <a:ea typeface="Times New Roman"/>
                <a:cs typeface="Times New Roman"/>
                <a:sym typeface="Times New Roman"/>
              </a:rPr>
              <a:t>1.Integration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dirty="0">
                <a:solidFill>
                  <a:srgbClr val="2B3541"/>
                </a:solidFill>
                <a:latin typeface="Times New Roman"/>
                <a:ea typeface="Times New Roman"/>
                <a:cs typeface="Times New Roman"/>
                <a:sym typeface="Times New Roman"/>
              </a:rPr>
              <a:t>2.</a:t>
            </a:r>
            <a:r>
              <a:rPr lang="en-US" sz="1850" b="1" i="0" u="none" strike="noStrike" cap="none" dirty="0">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dirty="0">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1413</TotalTime>
  <Words>1037</Words>
  <Application>Microsoft Office PowerPoint</Application>
  <PresentationFormat>Custom</PresentationFormat>
  <Paragraphs>119</Paragraphs>
  <Slides>14</Slides>
  <Notes>13</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IBM University Engagement Project Submission </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pc</cp:lastModifiedBy>
  <cp:revision>46</cp:revision>
  <dcterms:created xsi:type="dcterms:W3CDTF">2025-07-08T05:06:56Z</dcterms:created>
  <dcterms:modified xsi:type="dcterms:W3CDTF">2026-04-29T06:05:41Z</dcterms:modified>
</cp:coreProperties>
</file>